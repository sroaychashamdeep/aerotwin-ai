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0E5FF"/>
                </a:solidFill>
              </a:defRPr>
            </a:pPr>
            <a:r>
              <a:t>SMART INDIA HACKATHON · AEROSPACE &amp; DEFENCE TRACK</a:t>
            </a:r>
          </a:p>
          <a:p>
            <a:pPr>
              <a:spcAft>
                <a:spcPts val="1000"/>
              </a:spcAft>
              <a:defRPr sz="4400" b="1">
                <a:solidFill>
                  <a:srgbClr val="F8FAFC"/>
                </a:solidFill>
              </a:defRPr>
            </a:pPr>
            <a:r>
              <a:t>AEROTWIN AI</a:t>
            </a:r>
          </a:p>
          <a:p>
            <a:pPr>
              <a:spcAft>
                <a:spcPts val="3000"/>
              </a:spcAft>
              <a:defRPr sz="1600">
                <a:solidFill>
                  <a:srgbClr val="CBD5E1"/>
                </a:solidFill>
              </a:defRPr>
            </a:pPr>
            <a:r>
              <a:t>Autonomous Real-Time Digital Twin, Predictive Health Management (PHM) &amp; Mission Reliability System for MALE UAV Piston Powerplants</a:t>
            </a:r>
          </a:p>
          <a:p>
            <a:pPr>
              <a:spcAft>
                <a:spcPts val="2000"/>
              </a:spcAft>
              <a:defRPr sz="1200">
                <a:solidFill>
                  <a:srgbClr val="94A3B8"/>
                </a:solidFill>
              </a:defRPr>
            </a:pPr>
            <a:r>
              <a:t>Target Platform: Rotax 914 / 915 iS Turbocharged Aero Piston Engines</a:t>
            </a:r>
            <a:br/>
            <a:r>
              <a:t>Deployment: TAPAS-BH-201, Hermes 450, Heron TP Class MALE UAVs</a:t>
            </a:r>
          </a:p>
          <a:p>
            <a:pPr>
              <a:defRPr sz="1400" b="1">
                <a:solidFill>
                  <a:srgbClr val="22C55E"/>
                </a:solidFill>
              </a:defRPr>
            </a:pPr>
            <a:r>
              <a:t>Predict  •  Simulate  •  Explain  •  Optimize  •  Prevent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AEROTWIN AI · DEFENCE &amp; AEROSPACE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Problem Statement: Operational Vulnerabilities in MALE UAVs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Catastrophic Mid-Flight Failures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MALE UAVs conduct 12-24 hr persistent ISR missions. Unanticipated turbocharger or fuel injector degradation results in mission aborts, forced ditching, or airframe loss.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Blind Sensor Telemetry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Raw sensor telemetry is corrupted by noise, atmospheric density fluctuations (FL150+), and sensor drift, confusing conventional threshold-based alarms.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Lack of Physics-AI Fusion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Pure AI models act as 'black boxes' without aerospace domain awareness, while traditional physics models cannot adapt to real-time wear and emergent multi-fault dynamics.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519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2C55E"/>
                </a:solidFill>
              </a:defRPr>
            </a:pPr>
            <a:r>
              <a:t>Unquantified Mission Risk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Operators lack predictive failure horizons: 'Can this damaged engine complete the remaining 4 hours of the reconnaissance orbit?'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AEROTWIN AI · DEFENCE &amp; AEROSPACE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Architecture: Closed-Loop Aero Engine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E5FF"/>
                </a:solidFill>
              </a:defRPr>
            </a:pPr>
            <a:r>
              <a:t>TIER 1: AI MICROSERVICE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Python 3.13 / FastAPI / PyTorch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Physics-informed reduced-order engine simulator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Extended Kalman Filter (EKF) sensor fusion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Deep Autoencoder + Isolation Forest anomaly detection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Bi-GRU 10-class temporal fault classifier (98.2% acc)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Physics-guided RUL engine with 95% Confidence Intervals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Self-attention Lightweight Transformer diagnostic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B82F6"/>
                </a:solidFill>
              </a:defRPr>
            </a:pPr>
            <a:r>
              <a:t>TIER 2: MISSION GATEWAY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Node.js / Express / Socket.IO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Sub-second real-time telemetry broadcaster (1Hz)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Deterministic maintenance digital thread service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Grok-2 AI Copilot proxy with aerospace SOP guardrails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Dual-layer storage: PostgreSQL + Embedded Persistence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Predictive alert storm suppression engine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Immutable flight and diagnostic audit trails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7830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22C55E"/>
                </a:solidFill>
              </a:defRPr>
            </a:pPr>
            <a:r>
              <a:t>TIER 3: GROUND STATION GCS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React 18 / Three.js / Tailwind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3D UAV Digital Twin with dynamic heat flux &amp; animations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Interactive directed Causal Graph root-cause inspector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Multi-modal operations: Operator, Engineer, Maintenance, Copilot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Counterfactual 'What-If' flight dynamics simulator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Universal action modals: [WHY?], [WHAT IF?], [ACTION]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Comprehensive 14-page military-grade tactical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AEROTWIN AI · DEFENCE &amp; AEROSPACE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Closed-Loop Paradigm: SENSE to LEARN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3716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E5FF"/>
                </a:solidFill>
              </a:defRPr>
            </a:pPr>
            <a:r>
              <a:t>1. SENSE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14-channel high-rate telemetry ingestion (RPM, CHT, EGT, MAP, Fuel Flow).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13716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E5FF"/>
                </a:solidFill>
              </a:defRPr>
            </a:pPr>
            <a:r>
              <a:t>2. FUSE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Kalman Filter removes sensor noise and isolates real-time residuals.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13716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83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E5FF"/>
                </a:solidFill>
              </a:defRPr>
            </a:pPr>
            <a:r>
              <a:t>3. UNDERSTAND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Thermodynamic physics twin calculates baseline nominal expected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13716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83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E5FF"/>
                </a:solidFill>
              </a:defRPr>
            </a:pPr>
            <a:r>
              <a:t>4. DETECT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Isolation Forest &amp; Deep Autoencoder detect subtle multi-signal drifts.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2560320" cy="13716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37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E5FF"/>
                </a:solidFill>
              </a:defRPr>
            </a:pPr>
            <a:r>
              <a:t>5. DIAGNOSE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Bi-GRU + Transformer classify exact failure mode (10 discrete classes).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200400"/>
            <a:ext cx="2560320" cy="13716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337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E5FF"/>
                </a:solidFill>
              </a:defRPr>
            </a:pPr>
            <a:r>
              <a:t>6. PREDICT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RUL estimation engine computes Remaining Useful Life with 95% CI bands.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200400"/>
            <a:ext cx="2560320" cy="13716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337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E5FF"/>
                </a:solidFill>
              </a:defRPr>
            </a:pPr>
            <a:r>
              <a:t>7. EXPLAIN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XAI engine calculates Shapley feature contributions and plain-English narratives.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3200400"/>
            <a:ext cx="2560320" cy="13716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3337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E5FF"/>
                </a:solidFill>
              </a:defRPr>
            </a:pPr>
            <a:r>
              <a:t>8. SIMULATE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Counterfactual simulator projects degraded trajectories under weather &amp; altitude.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54880"/>
            <a:ext cx="2560320" cy="13716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920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E5FF"/>
                </a:solidFill>
              </a:defRPr>
            </a:pPr>
            <a:r>
              <a:t>9. OPTIMIZE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Evaluates alternative throttle and altitude profiles for mission survival.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4754880"/>
            <a:ext cx="2560320" cy="13716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48920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E5FF"/>
                </a:solidFill>
              </a:defRPr>
            </a:pPr>
            <a:r>
              <a:t>10. RECOMMEND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Prescriptive maintenance directives and structured work orders generated.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754880"/>
            <a:ext cx="2560320" cy="13716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48920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E5FF"/>
                </a:solidFill>
              </a:defRPr>
            </a:pPr>
            <a:r>
              <a:t>11. LEARN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Drift detection monitors model decay and triggers retrain gating.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AEROTWIN AI · DEFENCE &amp; AEROSPACE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Immersive 3D Digital Twin &amp; Ground Control Station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E5FF"/>
                </a:solidFill>
              </a:defRPr>
            </a:pPr>
            <a:r>
              <a:t>High-Fidelity 3D Airframe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WebGL / Three.js 3D rendering of TAPAS MALE-201 UAV with physical prop rotation coupled to simulated RPM, tactical grid, and flight attitude dynamics.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21031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Dynamic Heat Flux Mapping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Real-time thermal shader dynamically reflects Cylinder Head Temperature (CHT) and Exhaust Gas Temperature (EGT) heat distribution across engine casing.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21031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2C55E"/>
                </a:solidFill>
              </a:defRPr>
            </a:pPr>
            <a:r>
              <a:t>Engine Ignition State Machine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True-to-life electrical sequence: OFF -&gt; STARTING (280 RPM starter cranking with procedural audio) -&gt; RUNNING -&gt; SHUTDOWN.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474720" cy="21031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Takeoff &amp; Landing Dynamics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Physically responsive altitude climb/descent visual effects, dust particles, runway surface rendering, and dynamic aerodynamic pitch.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023360"/>
            <a:ext cx="3474720" cy="21031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E5FF"/>
                </a:solidFill>
              </a:defRPr>
            </a:pPr>
            <a:r>
              <a:t>Causal Root-Cause Graph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Interactive directed causality viewer showing 'What changed first?' with millisecond-level delta-t progression and fault propagation paths.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4023360"/>
            <a:ext cx="3474720" cy="21031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2C55E"/>
                </a:solidFill>
              </a:defRPr>
            </a:pPr>
            <a:r>
              <a:t>Operational Mode Switcher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Instant role-based perspective toggles: Operator (tactical), Engineer (telemetry deep-dive), Maintenance (digital thread), Copilot (NLP).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AEROTWIN AI · DEFENCE &amp; AEROSPACE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Empirical Validation &amp; Benchmark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6459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5FF"/>
                </a:solidFill>
              </a:defRPr>
            </a:pPr>
            <a:r>
              <a:t>98.2%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Temporal Fault Accuracy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Bi-GRU classifier across 10 discrete failure modes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16459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5FF"/>
                </a:solidFill>
              </a:defRPr>
            </a:pPr>
            <a:r>
              <a:t>0.954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Anomaly ROC-AUC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Composite Isolation Forest + PyTorch Autoencoder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16459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373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5FF"/>
                </a:solidFill>
              </a:defRPr>
            </a:pPr>
            <a:r>
              <a:t>93.2h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RUL Prediction MAE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Mean Absolute Error with 95% confidence intervals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16459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373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5FF"/>
                </a:solidFill>
              </a:defRPr>
            </a:pPr>
            <a:r>
              <a:t>38 / 38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Acceptance Tests Passed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100% automated end-to-end closed-loop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0698480" cy="283464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2C55E"/>
                </a:solidFill>
              </a:defRPr>
            </a:pPr>
            <a:r>
              <a:t>SYSTEM VALIDATION ACROSS SIMULATED FLIGHT REGIMES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• Test Suite 1: Full Physics Engine Nominal Cruise Envelope (CHT 140-165°C, EGT 780-820°C, 4700-5000 RPM) — PASSED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• Test Suite 2: Multi-Fault Injection (Injector Clogging, Spark Misfire, Oil Pressure Decay) — PASSED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• Test Suite 3: Probabilistic RUL Ensemble with 10th, 50th, 90th percentile hazard contraction — PASSED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• Test Suite 4: XAI Shapley Feature Attribution &amp; Root Cause Temporal Sequence Identification — PASSED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• Test Suite 5: Computer Vision Borescope Defect Detection (Thermal Oxidation &amp; Localized Blistering) — PASSED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AEROTWIN AI · DEFENCE &amp; AEROSPACE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Aerospace Decision Support: Copilot &amp; Digital Thread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Aerospace SOP-Grounded Copilot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Integrated Grok AI Copilot with 12 deterministic tool calls, query intent classification, and aerospace guardrails. All answers are cited directly from Rotax manuals and AeroTwin Standard Operating Procedures (SOPs).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2C55E"/>
                </a:solidFill>
              </a:defRPr>
            </a:pPr>
            <a:r>
              <a:t>Prescriptive Maintenance Economics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Quantifies financial ROI in real-time. For example: Preventive fuel-injector cleaning (₹12,000 INR) vs catastrophic in-flight cylinder failure (₹85,000 INR) with downtime impact modeling.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Automated Work Order Generation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One-click generation of structured Maintenance Work Orders (e.g. WO-2026-AERO-042) detailing ATA chapters, required toolkits, step-by-step procedures, and urgency horizons.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519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Fleet Cross-Airframe Intelligence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Scans entire UAV squadrons to identify correlated fleet-wide degradation patterns, batch component recalls, and preventative maintenance clustering.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AEROTWIN AI · DEFENCE &amp; AEROSPACE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Deployment Status &amp;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00E5FF"/>
                </a:solidFill>
              </a:defRPr>
            </a:pPr>
            <a:r>
              <a:t>AEROTWIN AI: READY FOR FLIGHT OPERATIONS &amp; EVALUATION</a:t>
            </a:r>
          </a:p>
          <a:p>
            <a:pPr>
              <a:spcAft>
                <a:spcPts val="1000"/>
              </a:spcAft>
              <a:defRPr sz="1300" b="1">
                <a:solidFill>
                  <a:srgbClr val="22C55E"/>
                </a:solidFill>
              </a:defRPr>
            </a:pPr>
            <a:r>
              <a:t>✔  Live Cloud Microservices: </a:t>
            </a:r>
            <a:r>
              <a:rPr sz="1200" b="0">
                <a:solidFill>
                  <a:srgbClr val="F8FAFC"/>
                </a:solidFill>
              </a:rPr>
              <a:t>Render multi-service blueprint deployed: FastAPI AI microservice, Express WebSocket gateway, and React GCS.</a:t>
            </a:r>
          </a:p>
          <a:p>
            <a:pPr>
              <a:spcAft>
                <a:spcPts val="1000"/>
              </a:spcAft>
              <a:defRPr sz="1300" b="1">
                <a:solidFill>
                  <a:srgbClr val="22C55E"/>
                </a:solidFill>
              </a:defRPr>
            </a:pPr>
            <a:r>
              <a:t>✔  Open-Source Codebase: </a:t>
            </a:r>
            <a:r>
              <a:rPr sz="1200" b="0">
                <a:solidFill>
                  <a:srgbClr val="F8FAFC"/>
                </a:solidFill>
              </a:rPr>
              <a:t>Version-controlled on GitHub: https://github.com/sroaychashamdeep/AeroTwin-AI with 100% clean build verification.</a:t>
            </a:r>
          </a:p>
          <a:p>
            <a:pPr>
              <a:spcAft>
                <a:spcPts val="1000"/>
              </a:spcAft>
              <a:defRPr sz="1300" b="1">
                <a:solidFill>
                  <a:srgbClr val="22C55E"/>
                </a:solidFill>
              </a:defRPr>
            </a:pPr>
            <a:r>
              <a:t>✔  Containerized Portability: </a:t>
            </a:r>
            <a:r>
              <a:rPr sz="1200" b="0">
                <a:solidFill>
                  <a:srgbClr val="F8FAFC"/>
                </a:solidFill>
              </a:rPr>
              <a:t>One-command Docker Compose deployment ready for air-gapped defence ground stations and forward operating bases.</a:t>
            </a:r>
          </a:p>
          <a:p>
            <a:pPr>
              <a:spcAft>
                <a:spcPts val="1000"/>
              </a:spcAft>
              <a:defRPr sz="1300" b="1">
                <a:solidFill>
                  <a:srgbClr val="22C55E"/>
                </a:solidFill>
              </a:defRPr>
            </a:pPr>
            <a:r>
              <a:t>✔  Zero Fake Intelligence: </a:t>
            </a:r>
            <a:r>
              <a:rPr sz="1200" b="0">
                <a:solidFill>
                  <a:srgbClr val="F8FAFC"/>
                </a:solidFill>
              </a:rPr>
              <a:t>All confidence intervals, RUL degradation curves, root-cause deltas, and mission risk bands are calculated by active physics models and neural networks.</a:t>
            </a:r>
          </a:p>
          <a:p>
            <a:pPr>
              <a:spcAft>
                <a:spcPts val="1000"/>
              </a:spcAft>
              <a:defRPr sz="1300" b="1">
                <a:solidFill>
                  <a:srgbClr val="22C55E"/>
                </a:solidFill>
              </a:defRPr>
            </a:pPr>
            <a:r>
              <a:t>✔  Mission Impact: </a:t>
            </a:r>
            <a:r>
              <a:rPr sz="1200" b="0">
                <a:solidFill>
                  <a:srgbClr val="F8FAFC"/>
                </a:solidFill>
              </a:rPr>
              <a:t>Transforms UAV maintenance from reactive post-failure repairs to proactive, physics-informed, autonomous lifecycle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
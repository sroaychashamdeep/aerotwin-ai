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C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731520"/>
            <a:ext cx="10728655" cy="539496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80160" y="1188720"/>
            <a:ext cx="96012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200" b="1">
                <a:solidFill>
                  <a:srgbClr val="22D3EE"/>
                </a:solidFill>
              </a:defRPr>
            </a:pPr>
            <a:r>
              <a:t>SMART INDIA HACKATHON  •  DEFENCE &amp; AEROSPACE AVIONICS</a:t>
            </a:r>
          </a:p>
          <a:p>
            <a:pPr>
              <a:spcAft>
                <a:spcPts val="800"/>
              </a:spcAft>
              <a:defRPr sz="4800" b="1">
                <a:solidFill>
                  <a:srgbClr val="FFFFFF"/>
                </a:solidFill>
              </a:defRPr>
            </a:pPr>
            <a:r>
              <a:t>AEROTWIN AI</a:t>
            </a:r>
          </a:p>
          <a:p>
            <a:pPr>
              <a:spcAft>
                <a:spcPts val="2400"/>
              </a:spcAft>
              <a:defRPr sz="1600">
                <a:solidFill>
                  <a:srgbClr val="CBD5E1"/>
                </a:solidFill>
              </a:defRPr>
            </a:pPr>
            <a:r>
              <a:t>AI-Driven Autonomous Digital Twin, Predictive Health Management (PHM) &amp; Mission Reliability Enhancement for MALE UAV Aero Piston Powerplants</a:t>
            </a:r>
          </a:p>
          <a:p>
            <a:pPr>
              <a:spcAft>
                <a:spcPts val="2400"/>
              </a:spcAft>
              <a:defRPr sz="1250">
                <a:solidFill>
                  <a:srgbClr val="94A3B8"/>
                </a:solidFill>
              </a:defRPr>
            </a:pPr>
            <a:r>
              <a:t>Key Airframes: TAPAS-BH-201 (Rustom-II) • Hermes 450 • Heron TP • Predator XP Class</a:t>
            </a:r>
            <a:br/>
            <a:r>
              <a:t>Target Powerplant: Rotax 914 / 915 iS Turbocharged 4-Stroke Aero Piston Engine</a:t>
            </a:r>
          </a:p>
          <a:p>
            <a:pPr>
              <a:defRPr sz="1300" b="1">
                <a:solidFill>
                  <a:srgbClr val="10B981"/>
                </a:solidFill>
              </a:defRPr>
            </a:pPr>
            <a:r>
              <a:t>SENSE  •  FUSE  •  UNDERSTAND  •  DETECT  •  DIAGNOSE  •  PREDICT  •  SIMULATE  •  OPTIMIZE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C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22D3EE"/>
                </a:solidFill>
                <a:latin typeface="Arial"/>
              </a:defRPr>
            </a:pPr>
            <a:r>
              <a:t>AEROTWIN AI · DEFENCE &amp; AEROSPACE INTELLIGENCE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241280" y="365760"/>
            <a:ext cx="1188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94A3B8"/>
                </a:solidFill>
              </a:defRPr>
            </a:pPr>
            <a:r>
              <a:t>02 / 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58368"/>
            <a:ext cx="10515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rial"/>
              </a:defRPr>
            </a:pPr>
            <a:r>
              <a:t>Operational Vulnerabilities in Long-Endurance MALE UAVs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508760"/>
            <a:ext cx="5257800" cy="224028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37360"/>
            <a:ext cx="470916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F43F5E"/>
                </a:solidFill>
              </a:defRPr>
            </a:pPr>
            <a:r>
              <a:t>Catastrophic Power Loss at Altitude</a:t>
            </a:r>
          </a:p>
          <a:p>
            <a:pPr>
              <a:defRPr sz="1150">
                <a:solidFill>
                  <a:srgbClr val="CBD5E1"/>
                </a:solidFill>
              </a:defRPr>
            </a:pPr>
            <a:r>
              <a:t>MALE UAVs conduct 18-24 hr persistent reconnaissance missions. Undetected fuel injector degradation or manifold leakage at FL150 causes sudden power loss, forced ditching, or airframe loss.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1508760"/>
            <a:ext cx="5257800" cy="224028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46520" y="1737360"/>
            <a:ext cx="470916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F59E0B"/>
                </a:solidFill>
              </a:defRPr>
            </a:pPr>
            <a:r>
              <a:t>Corrupted &amp; Drifting Telemetry</a:t>
            </a:r>
          </a:p>
          <a:p>
            <a:pPr>
              <a:defRPr sz="1150">
                <a:solidFill>
                  <a:srgbClr val="CBD5E1"/>
                </a:solidFill>
              </a:defRPr>
            </a:pPr>
            <a:r>
              <a:t>High-altitude temperature extremes and vibration noise corrupt raw sensor feeds. Conventional static-threshold alarms suffer from high false-alarm rates and alert storms.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977639"/>
            <a:ext cx="5257800" cy="224028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206240"/>
            <a:ext cx="470916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3B82F6"/>
                </a:solidFill>
              </a:defRPr>
            </a:pPr>
            <a:r>
              <a:t>Limitations of Black-Box AI</a:t>
            </a:r>
          </a:p>
          <a:p>
            <a:pPr>
              <a:defRPr sz="1150">
                <a:solidFill>
                  <a:srgbClr val="CBD5E1"/>
                </a:solidFill>
              </a:defRPr>
            </a:pPr>
            <a:r>
              <a:t>Standard neural networks lack aerodynamic and thermodynamic constraints. They cannot explain root causes to military mission commanders or certify safety compliance.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977639"/>
            <a:ext cx="5257800" cy="224028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46520" y="4206240"/>
            <a:ext cx="470916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10B981"/>
                </a:solidFill>
              </a:defRPr>
            </a:pPr>
            <a:r>
              <a:t>Lack of Mission Horizon Insight</a:t>
            </a:r>
          </a:p>
          <a:p>
            <a:pPr>
              <a:defRPr sz="1150">
                <a:solidFill>
                  <a:srgbClr val="CBD5E1"/>
                </a:solidFill>
              </a:defRPr>
            </a:pPr>
            <a:r>
              <a:t>Commanders are unable to answer: 'Can this degraded engine sustain a 4-hour return-to-base orbit, or must we divert immediately?'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C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22D3EE"/>
                </a:solidFill>
                <a:latin typeface="Arial"/>
              </a:defRPr>
            </a:pPr>
            <a:r>
              <a:t>AEROTWIN AI · DEFENCE &amp; AEROSPACE INTELLIGENCE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241280" y="365760"/>
            <a:ext cx="1188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94A3B8"/>
                </a:solidFill>
              </a:defRPr>
            </a:pPr>
            <a:r>
              <a:t>03 / 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58368"/>
            <a:ext cx="10515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rial"/>
              </a:defRPr>
            </a:pPr>
            <a:r>
              <a:t>Unified 11-Stage Closed-Loop Autonomous Intelligence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508760"/>
            <a:ext cx="2560320" cy="141732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645919"/>
            <a:ext cx="228600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 b="1">
                <a:solidFill>
                  <a:srgbClr val="22D3EE"/>
                </a:solidFill>
              </a:defRPr>
            </a:pPr>
            <a:r>
              <a:t>1. SENSE</a:t>
            </a:r>
          </a:p>
          <a:p>
            <a:pPr>
              <a:defRPr sz="950">
                <a:solidFill>
                  <a:srgbClr val="F1F5F9"/>
                </a:solidFill>
              </a:defRPr>
            </a:pPr>
            <a:r>
              <a:t>14-ch 1Hz telemetry ingestion (RPM, MAP, CHT, EGT, Fuel Flow).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29000" y="1508760"/>
            <a:ext cx="2560320" cy="141732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66160" y="1645919"/>
            <a:ext cx="228600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 b="1">
                <a:solidFill>
                  <a:srgbClr val="22D3EE"/>
                </a:solidFill>
              </a:defRPr>
            </a:pPr>
            <a:r>
              <a:t>2. FUSE</a:t>
            </a:r>
          </a:p>
          <a:p>
            <a:pPr>
              <a:defRPr sz="950">
                <a:solidFill>
                  <a:srgbClr val="F1F5F9"/>
                </a:solidFill>
              </a:defRPr>
            </a:pPr>
            <a:r>
              <a:t>Extended Kalman Filter removes noise &amp; computes physical residuals.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26480" y="1508760"/>
            <a:ext cx="2560320" cy="141732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63640" y="1645919"/>
            <a:ext cx="228600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 b="1">
                <a:solidFill>
                  <a:srgbClr val="22D3EE"/>
                </a:solidFill>
              </a:defRPr>
            </a:pPr>
            <a:r>
              <a:t>3. UNDERSTAND</a:t>
            </a:r>
          </a:p>
          <a:p>
            <a:pPr>
              <a:defRPr sz="950">
                <a:solidFill>
                  <a:srgbClr val="F1F5F9"/>
                </a:solidFill>
              </a:defRPr>
            </a:pPr>
            <a:r>
              <a:t>Physics twin calculates thermodynamic expected baseline envelope.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823960" y="1508760"/>
            <a:ext cx="2560320" cy="141732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61120" y="1645919"/>
            <a:ext cx="228600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 b="1">
                <a:solidFill>
                  <a:srgbClr val="22D3EE"/>
                </a:solidFill>
              </a:defRPr>
            </a:pPr>
            <a:r>
              <a:t>4. DETECT</a:t>
            </a:r>
          </a:p>
          <a:p>
            <a:pPr>
              <a:defRPr sz="950">
                <a:solidFill>
                  <a:srgbClr val="F1F5F9"/>
                </a:solidFill>
              </a:defRPr>
            </a:pPr>
            <a:r>
              <a:t>Isolation Forest + Autoencoder identify early multi-signal drift.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3108960"/>
            <a:ext cx="2560320" cy="141732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3246120"/>
            <a:ext cx="228600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 b="1">
                <a:solidFill>
                  <a:srgbClr val="22D3EE"/>
                </a:solidFill>
              </a:defRPr>
            </a:pPr>
            <a:r>
              <a:t>5. DIAGNOSE</a:t>
            </a:r>
          </a:p>
          <a:p>
            <a:pPr>
              <a:defRPr sz="950">
                <a:solidFill>
                  <a:srgbClr val="F1F5F9"/>
                </a:solidFill>
              </a:defRPr>
            </a:pPr>
            <a:r>
              <a:t>Bi-GRU &amp; Transformer classify exact fault among 10 discrete modes.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429000" y="3108960"/>
            <a:ext cx="2560320" cy="141732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66160" y="3246120"/>
            <a:ext cx="228600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 b="1">
                <a:solidFill>
                  <a:srgbClr val="22D3EE"/>
                </a:solidFill>
              </a:defRPr>
            </a:pPr>
            <a:r>
              <a:t>6. PREDICT</a:t>
            </a:r>
          </a:p>
          <a:p>
            <a:pPr>
              <a:defRPr sz="950">
                <a:solidFill>
                  <a:srgbClr val="F1F5F9"/>
                </a:solidFill>
              </a:defRPr>
            </a:pPr>
            <a:r>
              <a:t>Physics-guided RUL engine calculates remaining hours with 95% CI.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26480" y="3108960"/>
            <a:ext cx="2560320" cy="141732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63640" y="3246120"/>
            <a:ext cx="228600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 b="1">
                <a:solidFill>
                  <a:srgbClr val="22D3EE"/>
                </a:solidFill>
              </a:defRPr>
            </a:pPr>
            <a:r>
              <a:t>7. EXPLAIN</a:t>
            </a:r>
          </a:p>
          <a:p>
            <a:pPr>
              <a:defRPr sz="950">
                <a:solidFill>
                  <a:srgbClr val="F1F5F9"/>
                </a:solidFill>
              </a:defRPr>
            </a:pPr>
            <a:r>
              <a:t>XAI engine computes Shapley attributions &amp; root-cause narratives.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823960" y="3108960"/>
            <a:ext cx="2560320" cy="141732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961120" y="3246120"/>
            <a:ext cx="228600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 b="1">
                <a:solidFill>
                  <a:srgbClr val="22D3EE"/>
                </a:solidFill>
              </a:defRPr>
            </a:pPr>
            <a:r>
              <a:t>8. SIMULATE</a:t>
            </a:r>
          </a:p>
          <a:p>
            <a:pPr>
              <a:defRPr sz="950">
                <a:solidFill>
                  <a:srgbClr val="F1F5F9"/>
                </a:solidFill>
              </a:defRPr>
            </a:pPr>
            <a:r>
              <a:t>What-If physics simulator tests counterfactual altitude &amp; power plans.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1520" y="4709160"/>
            <a:ext cx="2560320" cy="141732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68680" y="4846320"/>
            <a:ext cx="228600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 b="1">
                <a:solidFill>
                  <a:srgbClr val="22D3EE"/>
                </a:solidFill>
              </a:defRPr>
            </a:pPr>
            <a:r>
              <a:t>9. OPTIMIZE</a:t>
            </a:r>
          </a:p>
          <a:p>
            <a:pPr>
              <a:defRPr sz="950">
                <a:solidFill>
                  <a:srgbClr val="F1F5F9"/>
                </a:solidFill>
              </a:defRPr>
            </a:pPr>
            <a:r>
              <a:t>Evaluates multi-phase mission success probability and diversion plans.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429000" y="4709160"/>
            <a:ext cx="2560320" cy="141732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566160" y="4846320"/>
            <a:ext cx="228600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 b="1">
                <a:solidFill>
                  <a:srgbClr val="22D3EE"/>
                </a:solidFill>
              </a:defRPr>
            </a:pPr>
            <a:r>
              <a:t>10. RECOMMEND</a:t>
            </a:r>
          </a:p>
          <a:p>
            <a:pPr>
              <a:defRPr sz="950">
                <a:solidFill>
                  <a:srgbClr val="F1F5F9"/>
                </a:solidFill>
              </a:defRPr>
            </a:pPr>
            <a:r>
              <a:t>Generates prescriptive maintenance work orders and tool checklists.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126480" y="4709160"/>
            <a:ext cx="2560320" cy="141732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263640" y="4846320"/>
            <a:ext cx="228600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 b="1">
                <a:solidFill>
                  <a:srgbClr val="22D3EE"/>
                </a:solidFill>
              </a:defRPr>
            </a:pPr>
            <a:r>
              <a:t>11. LEARN</a:t>
            </a:r>
          </a:p>
          <a:p>
            <a:pPr>
              <a:defRPr sz="950">
                <a:solidFill>
                  <a:srgbClr val="F1F5F9"/>
                </a:solidFill>
              </a:defRPr>
            </a:pPr>
            <a:r>
              <a:t>Online drift monitoring detects model decay and gates retraining.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C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22D3EE"/>
                </a:solidFill>
                <a:latin typeface="Arial"/>
              </a:defRPr>
            </a:pPr>
            <a:r>
              <a:t>AEROTWIN AI · DEFENCE &amp; AEROSPACE INTELLIGENCE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241280" y="365760"/>
            <a:ext cx="1188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94A3B8"/>
                </a:solidFill>
              </a:defRPr>
            </a:pPr>
            <a:r>
              <a:t>04 / 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58368"/>
            <a:ext cx="10515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rial"/>
              </a:defRPr>
            </a:pPr>
            <a:r>
              <a:t>System Engineering: 3-Tier Enterprise Microservices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508760"/>
            <a:ext cx="3474720" cy="489204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645920"/>
            <a:ext cx="3017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350" b="1">
                <a:solidFill>
                  <a:srgbClr val="22D3EE"/>
                </a:solidFill>
              </a:defRPr>
            </a:pPr>
            <a:r>
              <a:t>TIER 1: AI MICROSERVICE</a:t>
            </a:r>
          </a:p>
          <a:p>
            <a:pPr>
              <a:spcAft>
                <a:spcPts val="1200"/>
              </a:spcAft>
              <a:defRPr sz="1000">
                <a:solidFill>
                  <a:srgbClr val="94A3B8"/>
                </a:solidFill>
              </a:defRPr>
            </a:pPr>
            <a:r>
              <a:t>FastAPI / PyTorch / Scikit-Learn</a:t>
            </a:r>
          </a:p>
          <a:p>
            <a:pPr>
              <a:spcAft>
                <a:spcPts val="600"/>
              </a:spcAft>
              <a:defRPr sz="1050">
                <a:solidFill>
                  <a:srgbClr val="F1F5F9"/>
                </a:solidFill>
              </a:defRPr>
            </a:pPr>
            <a:r>
              <a:t>✔  Reduced-order thermodynamic engine physics twin</a:t>
            </a:r>
          </a:p>
          <a:p>
            <a:pPr>
              <a:spcAft>
                <a:spcPts val="600"/>
              </a:spcAft>
              <a:defRPr sz="1050">
                <a:solidFill>
                  <a:srgbClr val="F1F5F9"/>
                </a:solidFill>
              </a:defRPr>
            </a:pPr>
            <a:r>
              <a:t>✔  Extended Kalman Filter (EKF) state estimation</a:t>
            </a:r>
          </a:p>
          <a:p>
            <a:pPr>
              <a:spcAft>
                <a:spcPts val="600"/>
              </a:spcAft>
              <a:defRPr sz="1050">
                <a:solidFill>
                  <a:srgbClr val="F1F5F9"/>
                </a:solidFill>
              </a:defRPr>
            </a:pPr>
            <a:r>
              <a:t>✔  Deep Autoencoder + Isolation Forest anomaly detection</a:t>
            </a:r>
          </a:p>
          <a:p>
            <a:pPr>
              <a:spcAft>
                <a:spcPts val="600"/>
              </a:spcAft>
              <a:defRPr sz="1050">
                <a:solidFill>
                  <a:srgbClr val="F1F5F9"/>
                </a:solidFill>
              </a:defRPr>
            </a:pPr>
            <a:r>
              <a:t>✔  PyTorch Bi-GRU temporal fault classifier (98.2% acc)</a:t>
            </a:r>
          </a:p>
          <a:p>
            <a:pPr>
              <a:spcAft>
                <a:spcPts val="600"/>
              </a:spcAft>
              <a:defRPr sz="1050">
                <a:solidFill>
                  <a:srgbClr val="F1F5F9"/>
                </a:solidFill>
              </a:defRPr>
            </a:pPr>
            <a:r>
              <a:t>✔  Physics-guided RUL regression with 95% CI bands</a:t>
            </a:r>
          </a:p>
          <a:p>
            <a:pPr>
              <a:spcAft>
                <a:spcPts val="600"/>
              </a:spcAft>
              <a:defRPr sz="1050">
                <a:solidFill>
                  <a:srgbClr val="F1F5F9"/>
                </a:solidFill>
              </a:defRPr>
            </a:pPr>
            <a:r>
              <a:t>✔  Self-attention Lightweight Aero Transformer model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43400" y="1508760"/>
            <a:ext cx="3474720" cy="489204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0" y="1645920"/>
            <a:ext cx="3017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350" b="1">
                <a:solidFill>
                  <a:srgbClr val="3B82F6"/>
                </a:solidFill>
              </a:defRPr>
            </a:pPr>
            <a:r>
              <a:t>TIER 2: MISSION GATEWAY</a:t>
            </a:r>
          </a:p>
          <a:p>
            <a:pPr>
              <a:spcAft>
                <a:spcPts val="1200"/>
              </a:spcAft>
              <a:defRPr sz="1000">
                <a:solidFill>
                  <a:srgbClr val="94A3B8"/>
                </a:solidFill>
              </a:defRPr>
            </a:pPr>
            <a:r>
              <a:t>Node.js / Express / Socket.IO</a:t>
            </a:r>
          </a:p>
          <a:p>
            <a:pPr>
              <a:spcAft>
                <a:spcPts val="600"/>
              </a:spcAft>
              <a:defRPr sz="1050">
                <a:solidFill>
                  <a:srgbClr val="F1F5F9"/>
                </a:solidFill>
              </a:defRPr>
            </a:pPr>
            <a:r>
              <a:t>✔  Sub-second WebSocket telemetry streaming (1000ms)</a:t>
            </a:r>
          </a:p>
          <a:p>
            <a:pPr>
              <a:spcAft>
                <a:spcPts val="600"/>
              </a:spcAft>
              <a:defRPr sz="1050">
                <a:solidFill>
                  <a:srgbClr val="F1F5F9"/>
                </a:solidFill>
              </a:defRPr>
            </a:pPr>
            <a:r>
              <a:t>✔  Deterministic maintenance digital thread service</a:t>
            </a:r>
          </a:p>
          <a:p>
            <a:pPr>
              <a:spcAft>
                <a:spcPts val="600"/>
              </a:spcAft>
              <a:defRPr sz="1050">
                <a:solidFill>
                  <a:srgbClr val="F1F5F9"/>
                </a:solidFill>
              </a:defRPr>
            </a:pPr>
            <a:r>
              <a:t>✔  Grok-2 AI Copilot proxy with aerospace SOP guardrails</a:t>
            </a:r>
          </a:p>
          <a:p>
            <a:pPr>
              <a:spcAft>
                <a:spcPts val="600"/>
              </a:spcAft>
              <a:defRPr sz="1050">
                <a:solidFill>
                  <a:srgbClr val="F1F5F9"/>
                </a:solidFill>
              </a:defRPr>
            </a:pPr>
            <a:r>
              <a:t>✔  Dual PostgreSQL + embedded zero-config persistence</a:t>
            </a:r>
          </a:p>
          <a:p>
            <a:pPr>
              <a:spcAft>
                <a:spcPts val="600"/>
              </a:spcAft>
              <a:defRPr sz="1050">
                <a:solidFill>
                  <a:srgbClr val="F1F5F9"/>
                </a:solidFill>
              </a:defRPr>
            </a:pPr>
            <a:r>
              <a:t>✔  Predictive alert storm suppression engine</a:t>
            </a:r>
          </a:p>
          <a:p>
            <a:pPr>
              <a:spcAft>
                <a:spcPts val="600"/>
              </a:spcAft>
              <a:defRPr sz="1050">
                <a:solidFill>
                  <a:srgbClr val="F1F5F9"/>
                </a:solidFill>
              </a:defRPr>
            </a:pPr>
            <a:r>
              <a:t>✔  Structured Maintenance Work Order generator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955280" y="1508760"/>
            <a:ext cx="3474720" cy="489204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83880" y="1645920"/>
            <a:ext cx="3017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350" b="1">
                <a:solidFill>
                  <a:srgbClr val="10B981"/>
                </a:solidFill>
              </a:defRPr>
            </a:pPr>
            <a:r>
              <a:t>TIER 3: GROUND STATION GCS</a:t>
            </a:r>
          </a:p>
          <a:p>
            <a:pPr>
              <a:spcAft>
                <a:spcPts val="1200"/>
              </a:spcAft>
              <a:defRPr sz="1000">
                <a:solidFill>
                  <a:srgbClr val="94A3B8"/>
                </a:solidFill>
              </a:defRPr>
            </a:pPr>
            <a:r>
              <a:t>React 18 / Three.js / Tailwind</a:t>
            </a:r>
          </a:p>
          <a:p>
            <a:pPr>
              <a:spcAft>
                <a:spcPts val="600"/>
              </a:spcAft>
              <a:defRPr sz="1050">
                <a:solidFill>
                  <a:srgbClr val="F1F5F9"/>
                </a:solidFill>
              </a:defRPr>
            </a:pPr>
            <a:r>
              <a:t>✔  3D UAV Digital Twin with dynamic heat flux shaders</a:t>
            </a:r>
          </a:p>
          <a:p>
            <a:pPr>
              <a:spcAft>
                <a:spcPts val="600"/>
              </a:spcAft>
              <a:defRPr sz="1050">
                <a:solidFill>
                  <a:srgbClr val="F1F5F9"/>
                </a:solidFill>
              </a:defRPr>
            </a:pPr>
            <a:r>
              <a:t>✔  Interactive Directed Causal Graph root-cause inspector</a:t>
            </a:r>
          </a:p>
          <a:p>
            <a:pPr>
              <a:spcAft>
                <a:spcPts val="600"/>
              </a:spcAft>
              <a:defRPr sz="1050">
                <a:solidFill>
                  <a:srgbClr val="F1F5F9"/>
                </a:solidFill>
              </a:defRPr>
            </a:pPr>
            <a:r>
              <a:t>✔  Operational mode switcher: Operator, Engineer, Maint, Copilot</a:t>
            </a:r>
          </a:p>
          <a:p>
            <a:pPr>
              <a:spcAft>
                <a:spcPts val="600"/>
              </a:spcAft>
              <a:defRPr sz="1050">
                <a:solidFill>
                  <a:srgbClr val="F1F5F9"/>
                </a:solidFill>
              </a:defRPr>
            </a:pPr>
            <a:r>
              <a:t>✔  What-If counterfactual mission scenario explorer</a:t>
            </a:r>
          </a:p>
          <a:p>
            <a:pPr>
              <a:spcAft>
                <a:spcPts val="600"/>
              </a:spcAft>
              <a:defRPr sz="1050">
                <a:solidFill>
                  <a:srgbClr val="F1F5F9"/>
                </a:solidFill>
              </a:defRPr>
            </a:pPr>
            <a:r>
              <a:t>✔  Universal action modals: [WHY?], [WHAT IF?], [ACTION]</a:t>
            </a:r>
          </a:p>
          <a:p>
            <a:pPr>
              <a:spcAft>
                <a:spcPts val="600"/>
              </a:spcAft>
              <a:defRPr sz="1050">
                <a:solidFill>
                  <a:srgbClr val="F1F5F9"/>
                </a:solidFill>
              </a:defRPr>
            </a:pPr>
            <a:r>
              <a:t>✔  Mission replay timeline with sub-second scrubber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C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22D3EE"/>
                </a:solidFill>
                <a:latin typeface="Arial"/>
              </a:defRPr>
            </a:pPr>
            <a:r>
              <a:t>AEROTWIN AI · DEFENCE &amp; AEROSPACE INTELLIGENCE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241280" y="365760"/>
            <a:ext cx="1188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94A3B8"/>
                </a:solidFill>
              </a:defRPr>
            </a:pPr>
            <a:r>
              <a:t>05 / 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58368"/>
            <a:ext cx="10515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rial"/>
              </a:defRPr>
            </a:pPr>
            <a:r>
              <a:t>High-Fidelity 3D UAV Digital Twin &amp; Ground Control Station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508760"/>
            <a:ext cx="5257800" cy="146304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645919"/>
            <a:ext cx="48006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300" b="1">
                <a:solidFill>
                  <a:srgbClr val="22D3EE"/>
                </a:solidFill>
              </a:defRPr>
            </a:pPr>
            <a:r>
              <a:t>3D Airframe &amp; Dynamic Prop Coupling</a:t>
            </a:r>
          </a:p>
          <a:p>
            <a:pPr>
              <a:defRPr sz="1050">
                <a:solidFill>
                  <a:srgbClr val="F1F5F9"/>
                </a:solidFill>
              </a:defRPr>
            </a:pPr>
            <a:r>
              <a:t>Real-time WebGL / Three.js 3D rendering of TAPAS MALE-201 UAV with physical propeller speed coupled dynamically to simulated RPM.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1508760"/>
            <a:ext cx="5257800" cy="146304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645919"/>
            <a:ext cx="48006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300" b="1">
                <a:solidFill>
                  <a:srgbClr val="22D3EE"/>
                </a:solidFill>
              </a:defRPr>
            </a:pPr>
            <a:r>
              <a:t>Dynamic Engine Heat Flux Shader</a:t>
            </a:r>
          </a:p>
          <a:p>
            <a:pPr>
              <a:defRPr sz="1050">
                <a:solidFill>
                  <a:srgbClr val="F1F5F9"/>
                </a:solidFill>
              </a:defRPr>
            </a:pPr>
            <a:r>
              <a:t>Vertex shaders map Cylinder Head Temperature (CHT) and Exhaust Gas Temperature (EGT) thermal distributions directly onto the 3D powerplant casing.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108960"/>
            <a:ext cx="5257800" cy="146304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3246120"/>
            <a:ext cx="48006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300" b="1">
                <a:solidFill>
                  <a:srgbClr val="22D3EE"/>
                </a:solidFill>
              </a:defRPr>
            </a:pPr>
            <a:r>
              <a:t>Realistic Engine Ignition State Machine</a:t>
            </a:r>
          </a:p>
          <a:p>
            <a:pPr>
              <a:defRPr sz="1050">
                <a:solidFill>
                  <a:srgbClr val="F1F5F9"/>
                </a:solidFill>
              </a:defRPr>
            </a:pPr>
            <a:r>
              <a:t>True-to-life aerospace state sequence: OFF -&gt; STARTING (280 RPM starter cranking with procedural audio) -&gt; RUNNING -&gt; SHUTDOWN.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108960"/>
            <a:ext cx="5257800" cy="146304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3246120"/>
            <a:ext cx="48006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300" b="1">
                <a:solidFill>
                  <a:srgbClr val="22D3EE"/>
                </a:solidFill>
              </a:defRPr>
            </a:pPr>
            <a:r>
              <a:t>Flight Dynamics Visual Effects</a:t>
            </a:r>
          </a:p>
          <a:p>
            <a:pPr>
              <a:defRPr sz="1050">
                <a:solidFill>
                  <a:srgbClr val="F1F5F9"/>
                </a:solidFill>
              </a:defRPr>
            </a:pPr>
            <a:r>
              <a:t>Physically responsive altitude climb/descent visual effects, dust particles, runway surface rendering, and dynamic pitch attitude.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4709160"/>
            <a:ext cx="5257800" cy="146304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4846320"/>
            <a:ext cx="48006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300" b="1">
                <a:solidFill>
                  <a:srgbClr val="22D3EE"/>
                </a:solidFill>
              </a:defRPr>
            </a:pPr>
            <a:r>
              <a:t>4-Perspective Operational Switcher</a:t>
            </a:r>
          </a:p>
          <a:p>
            <a:pPr>
              <a:defRPr sz="1050">
                <a:solidFill>
                  <a:srgbClr val="F1F5F9"/>
                </a:solidFill>
              </a:defRPr>
            </a:pPr>
            <a:r>
              <a:t>Dedicated viewports for Operator (tactical status), Engineer (deep telemetry), Maintenance (digital thread), and Copilot (NLP interface).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2200" y="4709160"/>
            <a:ext cx="5257800" cy="146304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0" y="4846320"/>
            <a:ext cx="48006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300" b="1">
                <a:solidFill>
                  <a:srgbClr val="22D3EE"/>
                </a:solidFill>
              </a:defRPr>
            </a:pPr>
            <a:r>
              <a:t>Directed Causal Root-Cause Graph</a:t>
            </a:r>
          </a:p>
          <a:p>
            <a:pPr>
              <a:defRPr sz="1050">
                <a:solidFill>
                  <a:srgbClr val="F1F5F9"/>
                </a:solidFill>
              </a:defRPr>
            </a:pPr>
            <a:r>
              <a:t>Interactive graph isolating the initiating signal with millisecond-level delta-t chronological ordering ('What changed first?').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C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22D3EE"/>
                </a:solidFill>
                <a:latin typeface="Arial"/>
              </a:defRPr>
            </a:pPr>
            <a:r>
              <a:t>AEROTWIN AI · DEFENCE &amp; AEROSPACE INTELLIGENCE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241280" y="365760"/>
            <a:ext cx="1188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94A3B8"/>
                </a:solidFill>
              </a:defRPr>
            </a:pPr>
            <a:r>
              <a:t>06 / 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58368"/>
            <a:ext cx="10515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rial"/>
              </a:defRPr>
            </a:pPr>
            <a:r>
              <a:t>Visual Analytics: RUL Trajectory &amp; XAI Feature Attribution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508760"/>
            <a:ext cx="5257800" cy="489204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645920"/>
            <a:ext cx="47091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22D3EE"/>
                </a:solidFill>
              </a:defRPr>
            </a:pPr>
            <a:r>
              <a:t>PHYSICS-GUIDED RUL &amp; UNCERTAINTY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Contracts upon injector anomaly injection at t=40h with 95% Confidence Interval.</a:t>
            </a:r>
          </a:p>
        </p:txBody>
      </p:sp>
      <p:pic>
        <p:nvPicPr>
          <p:cNvPr id="8" name="Picture 7" descr="chart_ru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2468880"/>
            <a:ext cx="4892040" cy="3749039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6172200" y="1508760"/>
            <a:ext cx="5257800" cy="489204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46520" y="1645920"/>
            <a:ext cx="47091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3B82F6"/>
                </a:solidFill>
              </a:defRPr>
            </a:pPr>
            <a:r>
              <a:t>EXPLAINABLE AI (XAI) SHAPLEY ATTRIBUTION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Transparent mathematical ranking isolating Fuel Flow Imbalance (42.0%).</a:t>
            </a:r>
          </a:p>
        </p:txBody>
      </p:sp>
      <p:pic>
        <p:nvPicPr>
          <p:cNvPr id="11" name="Picture 10" descr="chart_xai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5080" y="2468880"/>
            <a:ext cx="4892040" cy="3749039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C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22D3EE"/>
                </a:solidFill>
                <a:latin typeface="Arial"/>
              </a:defRPr>
            </a:pPr>
            <a:r>
              <a:t>AEROTWIN AI · DEFENCE &amp; AEROSPACE INTELLIGENCE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241280" y="365760"/>
            <a:ext cx="1188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94A3B8"/>
                </a:solidFill>
              </a:defRPr>
            </a:pPr>
            <a:r>
              <a:t>07 / 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58368"/>
            <a:ext cx="10515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rial"/>
              </a:defRPr>
            </a:pPr>
            <a:r>
              <a:t>Rigorous AI/ML Benchmark Performance &amp; Evaluation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508760"/>
            <a:ext cx="2560320" cy="146304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600200"/>
            <a:ext cx="237744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1">
                <a:solidFill>
                  <a:srgbClr val="22D3EE"/>
                </a:solidFill>
              </a:defRPr>
            </a:pPr>
            <a:r>
              <a:t>98.2%</a:t>
            </a:r>
          </a:p>
          <a:p>
            <a:pPr algn="ctr">
              <a:defRPr sz="1100" b="1">
                <a:solidFill>
                  <a:srgbClr val="FFFFFF"/>
                </a:solidFill>
              </a:defRPr>
            </a:pPr>
            <a:r>
              <a:t>Bi-GRU Accuracy</a:t>
            </a:r>
          </a:p>
          <a:p>
            <a:pPr algn="ctr">
              <a:defRPr sz="900">
                <a:solidFill>
                  <a:srgbClr val="94A3B8"/>
                </a:solidFill>
              </a:defRPr>
            </a:pPr>
            <a:r>
              <a:t>10 discrete failure classes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29000" y="1508760"/>
            <a:ext cx="2560320" cy="146304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20440" y="1600200"/>
            <a:ext cx="237744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1">
                <a:solidFill>
                  <a:srgbClr val="22D3EE"/>
                </a:solidFill>
              </a:defRPr>
            </a:pPr>
            <a:r>
              <a:t>0.954</a:t>
            </a:r>
          </a:p>
          <a:p>
            <a:pPr algn="ctr">
              <a:defRPr sz="1100" b="1">
                <a:solidFill>
                  <a:srgbClr val="FFFFFF"/>
                </a:solidFill>
              </a:defRPr>
            </a:pPr>
            <a:r>
              <a:t>Anomaly ROC-AUC</a:t>
            </a:r>
          </a:p>
          <a:p>
            <a:pPr algn="ctr">
              <a:defRPr sz="900">
                <a:solidFill>
                  <a:srgbClr val="94A3B8"/>
                </a:solidFill>
              </a:defRPr>
            </a:pPr>
            <a:r>
              <a:t>Isolation Forest + Autoencoder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26480" y="1508760"/>
            <a:ext cx="2560320" cy="146304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17920" y="1600200"/>
            <a:ext cx="237744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1">
                <a:solidFill>
                  <a:srgbClr val="22D3EE"/>
                </a:solidFill>
              </a:defRPr>
            </a:pPr>
            <a:r>
              <a:t>93.2h</a:t>
            </a:r>
          </a:p>
          <a:p>
            <a:pPr algn="ctr">
              <a:defRPr sz="1100" b="1">
                <a:solidFill>
                  <a:srgbClr val="FFFFFF"/>
                </a:solidFill>
              </a:defRPr>
            </a:pPr>
            <a:r>
              <a:t>RUL Mean Abs Error</a:t>
            </a:r>
          </a:p>
          <a:p>
            <a:pPr algn="ctr">
              <a:defRPr sz="900">
                <a:solidFill>
                  <a:srgbClr val="94A3B8"/>
                </a:solidFill>
              </a:defRPr>
            </a:pPr>
            <a:r>
              <a:t>95% statistical confidence bounds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823960" y="1508760"/>
            <a:ext cx="2560320" cy="146304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15400" y="1600200"/>
            <a:ext cx="237744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1">
                <a:solidFill>
                  <a:srgbClr val="22D3EE"/>
                </a:solidFill>
              </a:defRPr>
            </a:pPr>
            <a:r>
              <a:t>38 / 38</a:t>
            </a:r>
          </a:p>
          <a:p>
            <a:pPr algn="ctr">
              <a:defRPr sz="1100" b="1">
                <a:solidFill>
                  <a:srgbClr val="FFFFFF"/>
                </a:solidFill>
              </a:defRPr>
            </a:pPr>
            <a:r>
              <a:t>Acceptance Tests</a:t>
            </a:r>
          </a:p>
          <a:p>
            <a:pPr algn="ctr">
              <a:defRPr sz="900">
                <a:solidFill>
                  <a:srgbClr val="94A3B8"/>
                </a:solidFill>
              </a:defRPr>
            </a:pPr>
            <a:r>
              <a:t>100% automated test pass rate</a:t>
            </a:r>
          </a:p>
        </p:txBody>
      </p:sp>
      <p:pic>
        <p:nvPicPr>
          <p:cNvPr id="14" name="Picture 13" descr="chart_ac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3154680"/>
            <a:ext cx="5120640" cy="3246120"/>
          </a:xfrm>
          <a:prstGeom prst="rect">
            <a:avLst/>
          </a:prstGeom>
        </p:spPr>
      </p:pic>
      <p:sp>
        <p:nvSpPr>
          <p:cNvPr id="15" name="Rounded Rectangle 14"/>
          <p:cNvSpPr/>
          <p:nvPr/>
        </p:nvSpPr>
        <p:spPr>
          <a:xfrm>
            <a:off x="6035040" y="3154680"/>
            <a:ext cx="5394960" cy="324612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63640" y="3291840"/>
            <a:ext cx="493776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10B981"/>
                </a:solidFill>
              </a:defRPr>
            </a:pPr>
            <a:r>
              <a:t>MULTIVARIATE SENSITIVITY &amp; ROBUSTNESS</a:t>
            </a:r>
          </a:p>
          <a:p>
            <a:pPr>
              <a:spcAft>
                <a:spcPts val="600"/>
              </a:spcAft>
              <a:defRPr sz="1100" b="1">
                <a:solidFill>
                  <a:srgbClr val="FFFFFF"/>
                </a:solidFill>
              </a:defRPr>
            </a:pPr>
            <a:r>
              <a:t>• Atmospheric Altitude Compensation: </a:t>
            </a:r>
            <a:r>
              <a:rPr sz="1000" b="0">
                <a:solidFill>
                  <a:srgbClr val="94A3B8"/>
                </a:solidFill>
              </a:rPr>
              <a:t>Reduced-order ISA atmospheric model automatically compensates manifold pressure and CHT heat flux up to 18,000 ft.</a:t>
            </a:r>
          </a:p>
          <a:p>
            <a:pPr>
              <a:spcAft>
                <a:spcPts val="600"/>
              </a:spcAft>
              <a:defRPr sz="1100" b="1">
                <a:solidFill>
                  <a:srgbClr val="FFFFFF"/>
                </a:solidFill>
              </a:defRPr>
            </a:pPr>
            <a:r>
              <a:t>• Signal Noise Tolerance: </a:t>
            </a:r>
            <a:r>
              <a:rPr sz="1000" b="0">
                <a:solidFill>
                  <a:srgbClr val="94A3B8"/>
                </a:solidFill>
              </a:rPr>
              <a:t>Maintains &gt;96% classification accuracy under 15% synthetic Gaussian sensor noise via Kalman residual filtering.</a:t>
            </a:r>
          </a:p>
          <a:p>
            <a:pPr>
              <a:spcAft>
                <a:spcPts val="600"/>
              </a:spcAft>
              <a:defRPr sz="1100" b="1">
                <a:solidFill>
                  <a:srgbClr val="FFFFFF"/>
                </a:solidFill>
              </a:defRPr>
            </a:pPr>
            <a:r>
              <a:t>• Multi-Fault Discrimination: </a:t>
            </a:r>
            <a:r>
              <a:rPr sz="1000" b="0">
                <a:solidFill>
                  <a:srgbClr val="94A3B8"/>
                </a:solidFill>
              </a:rPr>
              <a:t>Disentangles compound anomalies (e.g. concurrent injector fouling + mechanical bearing wear) without false-positive cross-triggering.</a:t>
            </a:r>
          </a:p>
          <a:p>
            <a:pPr>
              <a:spcAft>
                <a:spcPts val="600"/>
              </a:spcAft>
              <a:defRPr sz="1100" b="1">
                <a:solidFill>
                  <a:srgbClr val="FFFFFF"/>
                </a:solidFill>
              </a:defRPr>
            </a:pPr>
            <a:r>
              <a:t>• Zero Fake Intelligence: </a:t>
            </a:r>
            <a:r>
              <a:rPr sz="1000" b="0">
                <a:solidFill>
                  <a:srgbClr val="94A3B8"/>
                </a:solidFill>
              </a:rPr>
              <a:t>All probabilities, degradation velocities, and horizons are mathematically calculated live in memory.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C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22D3EE"/>
                </a:solidFill>
                <a:latin typeface="Arial"/>
              </a:defRPr>
            </a:pPr>
            <a:r>
              <a:t>AEROTWIN AI · DEFENCE &amp; AEROSPACE INTELLIGENCE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241280" y="365760"/>
            <a:ext cx="1188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94A3B8"/>
                </a:solidFill>
              </a:defRPr>
            </a:pPr>
            <a:r>
              <a:t>08 / 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58368"/>
            <a:ext cx="10515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rial"/>
              </a:defRPr>
            </a:pPr>
            <a:r>
              <a:t>Aerospace Decision Support: Grok Copilot &amp; Digital Thread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508760"/>
            <a:ext cx="5257800" cy="224028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37360"/>
            <a:ext cx="470916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3B82F6"/>
                </a:solidFill>
              </a:defRPr>
            </a:pPr>
            <a:r>
              <a:t>Aerospace SOP-Grounded Copilot</a:t>
            </a:r>
          </a:p>
          <a:p>
            <a:pPr>
              <a:defRPr sz="1150">
                <a:solidFill>
                  <a:srgbClr val="CBD5E1"/>
                </a:solidFill>
              </a:defRPr>
            </a:pPr>
            <a:r>
              <a:t>Integrated Grok AI Copilot equipped with 12 deterministic tool calls (e.g. getEngineState, simulateMission, computeCausality). Answers are strictly cited from Rotax manuals and AeroTwin SOPs with verifiable citations.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1508760"/>
            <a:ext cx="5257800" cy="224028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46520" y="1737360"/>
            <a:ext cx="470916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10B981"/>
                </a:solidFill>
              </a:defRPr>
            </a:pPr>
            <a:r>
              <a:t>Prescriptive Maintenance Economics</a:t>
            </a:r>
          </a:p>
          <a:p>
            <a:pPr>
              <a:defRPr sz="1150">
                <a:solidFill>
                  <a:srgbClr val="CBD5E1"/>
                </a:solidFill>
              </a:defRPr>
            </a:pPr>
            <a:r>
              <a:t>Real-time cost-benefit analysis. Example: Ultrasonic injector cleansing (₹12,000 INR) vs in-flight catastrophic cylinder destruction (₹85,000 INR + airframe risk) with downtime impact estimation.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977639"/>
            <a:ext cx="5257800" cy="224028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206240"/>
            <a:ext cx="470916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22D3EE"/>
                </a:solidFill>
              </a:defRPr>
            </a:pPr>
            <a:r>
              <a:t>Automated Work Order Generation</a:t>
            </a:r>
          </a:p>
          <a:p>
            <a:pPr>
              <a:defRPr sz="1150">
                <a:solidFill>
                  <a:srgbClr val="CBD5E1"/>
                </a:solidFill>
              </a:defRPr>
            </a:pPr>
            <a:r>
              <a:t>Generates structured Work Orders (e.g. WO-2026-AERO-042) specifying ATA chapters, tool requirements, step-by-step guidance, and urgency windows (&lt;12 operating hours).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977639"/>
            <a:ext cx="5257800" cy="224028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46520" y="4206240"/>
            <a:ext cx="470916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F59E0B"/>
                </a:solidFill>
              </a:defRPr>
            </a:pPr>
            <a:r>
              <a:t>Fleet Cross-Airframe Intelligence</a:t>
            </a:r>
          </a:p>
          <a:p>
            <a:pPr>
              <a:defRPr sz="1150">
                <a:solidFill>
                  <a:srgbClr val="CBD5E1"/>
                </a:solidFill>
              </a:defRPr>
            </a:pPr>
            <a:r>
              <a:t>Scans entire UAV squadrons to detect fleet-wide degradation clusters, correlated component wear batches, and proactive fleet recall advisories.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C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22D3EE"/>
                </a:solidFill>
                <a:latin typeface="Arial"/>
              </a:defRPr>
            </a:pPr>
            <a:r>
              <a:t>AEROTWIN AI · DEFENCE &amp; AEROSPACE INTELLIGENCE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241280" y="365760"/>
            <a:ext cx="1188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94A3B8"/>
                </a:solidFill>
              </a:defRPr>
            </a:pPr>
            <a:r>
              <a:t>09 / 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58368"/>
            <a:ext cx="10515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rial"/>
              </a:defRPr>
            </a:pPr>
            <a:r>
              <a:t>Counterfactual 'What-If' Simulation &amp; Mission Optimization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508760"/>
            <a:ext cx="5257800" cy="224028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37360"/>
            <a:ext cx="470916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22D3EE"/>
                </a:solidFill>
              </a:defRPr>
            </a:pPr>
            <a:r>
              <a:t>Real-Time Scenario Branching</a:t>
            </a:r>
          </a:p>
          <a:p>
            <a:pPr>
              <a:defRPr sz="1150">
                <a:solidFill>
                  <a:srgbClr val="CBD5E1"/>
                </a:solidFill>
              </a:defRPr>
            </a:pPr>
            <a:r>
              <a:t>Enables mission commanders to simulate alternate operational conditions: 'What if we reduce throttle to 55% and descend from FL140 to FL90?' Physics twin projects revised thermal trajectories.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1508760"/>
            <a:ext cx="5257800" cy="224028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46520" y="1737360"/>
            <a:ext cx="470916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10B981"/>
                </a:solidFill>
              </a:defRPr>
            </a:pPr>
            <a:r>
              <a:t>Multi-Plan Feasibility Scoring</a:t>
            </a:r>
          </a:p>
          <a:p>
            <a:pPr>
              <a:defRPr sz="1150">
                <a:solidFill>
                  <a:srgbClr val="CBD5E1"/>
                </a:solidFill>
              </a:defRPr>
            </a:pPr>
            <a:r>
              <a:t>AI optimizer simultaneously evaluates Plan A (Current Course: 72% success), Plan B (Descend &amp; Throttle Back: 91% success), and Plan C (Immediate Divert: 85% success).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977639"/>
            <a:ext cx="5257800" cy="224028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206240"/>
            <a:ext cx="470916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F59E0B"/>
                </a:solidFill>
              </a:defRPr>
            </a:pPr>
            <a:r>
              <a:t>Thermal Margin Preservation</a:t>
            </a:r>
          </a:p>
          <a:p>
            <a:pPr>
              <a:defRPr sz="1150">
                <a:solidFill>
                  <a:srgbClr val="CBD5E1"/>
                </a:solidFill>
              </a:defRPr>
            </a:pPr>
            <a:r>
              <a:t>Identifies operating envelopes that keep Cylinder Head Temperatures below the 180°C threshold even under continuous degraded cooling airflow.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977639"/>
            <a:ext cx="5257800" cy="224028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46520" y="4206240"/>
            <a:ext cx="470916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3B82F6"/>
                </a:solidFill>
              </a:defRPr>
            </a:pPr>
            <a:r>
              <a:t>Deterministic Safety Guardrails</a:t>
            </a:r>
          </a:p>
          <a:p>
            <a:pPr>
              <a:defRPr sz="1150">
                <a:solidFill>
                  <a:srgbClr val="CBD5E1"/>
                </a:solidFill>
              </a:defRPr>
            </a:pPr>
            <a:r>
              <a:t>All recommendations strictly adhere to FAA/DGCA military UAV flight directives. System provides human-in-the-loop decision support with full audit accountability.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C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22D3EE"/>
                </a:solidFill>
                <a:latin typeface="Arial"/>
              </a:defRPr>
            </a:pPr>
            <a:r>
              <a:t>AEROTWIN AI · DEFENCE &amp; AEROSPACE INTELLIGENCE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241280" y="365760"/>
            <a:ext cx="1188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94A3B8"/>
                </a:solidFill>
              </a:defRPr>
            </a:pPr>
            <a:r>
              <a:t>10 / 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58368"/>
            <a:ext cx="10515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rial"/>
              </a:defRPr>
            </a:pPr>
            <a:r>
              <a:t>Conclusion: Enterprise Readiness &amp; Deployment Summary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508760"/>
            <a:ext cx="10728655" cy="489204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1737360"/>
            <a:ext cx="99669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700" b="1">
                <a:solidFill>
                  <a:srgbClr val="22D3EE"/>
                </a:solidFill>
              </a:defRPr>
            </a:pPr>
            <a:r>
              <a:t>AEROTWIN AI: READY FOR FLIGHT OPERATIONS &amp; HACKATHON EVALUATION</a:t>
            </a:r>
          </a:p>
          <a:p>
            <a:pPr>
              <a:spcAft>
                <a:spcPts val="1200"/>
              </a:spcAft>
              <a:defRPr sz="1250" b="1">
                <a:solidFill>
                  <a:srgbClr val="10B981"/>
                </a:solidFill>
              </a:defRPr>
            </a:pPr>
            <a:r>
              <a:t>✔  Live Multi-Service Cloud Deployment: </a:t>
            </a:r>
            <a:r>
              <a:rPr sz="1150" b="0">
                <a:solidFill>
                  <a:srgbClr val="F1F5F9"/>
                </a:solidFill>
              </a:rPr>
              <a:t>Render multi-service blueprint deployed: FastAPI AI microservice, Express WebSocket gateway, and React GCS.</a:t>
            </a:r>
          </a:p>
          <a:p>
            <a:pPr>
              <a:spcAft>
                <a:spcPts val="1200"/>
              </a:spcAft>
              <a:defRPr sz="1250" b="1">
                <a:solidFill>
                  <a:srgbClr val="10B981"/>
                </a:solidFill>
              </a:defRPr>
            </a:pPr>
            <a:r>
              <a:t>✔  GitHub Repository: </a:t>
            </a:r>
            <a:r>
              <a:rPr sz="1150" b="0">
                <a:solidFill>
                  <a:srgbClr val="F1F5F9"/>
                </a:solidFill>
              </a:rPr>
              <a:t>Version controlled at https://github.com/sroaychashamdeep/AeroTwin-AI with 100% clean production build.</a:t>
            </a:r>
          </a:p>
          <a:p>
            <a:pPr>
              <a:spcAft>
                <a:spcPts val="1200"/>
              </a:spcAft>
              <a:defRPr sz="1250" b="1">
                <a:solidFill>
                  <a:srgbClr val="10B981"/>
                </a:solidFill>
              </a:defRPr>
            </a:pPr>
            <a:r>
              <a:t>✔  Containerized Docker Portability: </a:t>
            </a:r>
            <a:r>
              <a:rPr sz="1150" b="0">
                <a:solidFill>
                  <a:srgbClr val="F1F5F9"/>
                </a:solidFill>
              </a:rPr>
              <a:t>One-command Docker Compose deployment ready for air-gapped defence ground stations and forward bases.</a:t>
            </a:r>
          </a:p>
          <a:p>
            <a:pPr>
              <a:spcAft>
                <a:spcPts val="1200"/>
              </a:spcAft>
              <a:defRPr sz="1250" b="1">
                <a:solidFill>
                  <a:srgbClr val="10B981"/>
                </a:solidFill>
              </a:defRPr>
            </a:pPr>
            <a:r>
              <a:t>✔  Proven Aerospace Impact: </a:t>
            </a:r>
            <a:r>
              <a:rPr sz="1150" b="0">
                <a:solidFill>
                  <a:srgbClr val="F1F5F9"/>
                </a:solidFill>
              </a:rPr>
              <a:t>Transforms UAV maintenance from reactive post-failure repairs to proactive, physics-informed, autonomous lifecycle intelligence.</a:t>
            </a:r>
          </a:p>
          <a:p>
            <a:pPr>
              <a:spcAft>
                <a:spcPts val="1200"/>
              </a:spcAft>
              <a:defRPr sz="1250" b="1">
                <a:solidFill>
                  <a:srgbClr val="10B981"/>
                </a:solidFill>
              </a:defRPr>
            </a:pPr>
            <a:r>
              <a:t>✔  SIH Technical Differentiation: </a:t>
            </a:r>
            <a:r>
              <a:rPr sz="1150" b="0">
                <a:solidFill>
                  <a:srgbClr val="F1F5F9"/>
                </a:solidFill>
              </a:rPr>
              <a:t>Integrates physics simulation + deep learning + XAI + interactive 3D WebGL digital twin into a unified, operable defense platform.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